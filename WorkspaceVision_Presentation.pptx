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Calibri"/>
              </a:defRPr>
            </a:pPr>
            <a:r>
              <a:t>WorkspaceVision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AI-Powered Workspace Analysis &amp; Safety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Object Detection  |  Segmentation  |  Captioning  |  RAG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C3AED"/>
                </a:solidFill>
                <a:latin typeface="Calibri"/>
              </a:defRPr>
            </a:pPr>
            <a:r>
              <a:t>Grounding DINO  +  SAM2  +  BLIP-2  +  GPT-4o-mini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Ironhack Bootcamp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DIY enthusiasts and industrial workers need help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identifying tools and understanding proper usage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Current challenges: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- No quick way to identify unfamiliar tools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- Safety manuals are long PDFs nobody reads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- Training new workers is time-consuming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 - No visual guidance in the workspace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The Solution: WorkspaceVision</a:t>
            </a:r>
          </a:p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   Point a camera at your workspace</a:t>
            </a:r>
          </a:p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   AI detects and segments every object</a:t>
            </a:r>
          </a:p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   AI describes what it sees</a:t>
            </a:r>
          </a:p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   Ask questions: 'How do I use this safely?'</a:t>
            </a:r>
          </a:p>
          <a:p>
            <a:pPr>
              <a:spcAft>
                <a:spcPts val="800"/>
              </a:spcAft>
              <a:defRPr sz="1800">
                <a:solidFill>
                  <a:srgbClr val="10B981"/>
                </a:solidFill>
                <a:latin typeface="Calibri"/>
              </a:defRPr>
            </a:pPr>
            <a:r>
              <a:t>   Answers grounded in real tool manuals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4-Block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2560320" cy="1828800"/>
          </a:xfrm>
          <a:prstGeom prst="round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Block 1</a:t>
            </a:r>
            <a:br/>
            <a:r>
              <a:t>UI &amp; Input</a:t>
            </a:r>
            <a:br/>
            <a:br/>
            <a:r>
              <a:t>Streamlit Frontend</a:t>
            </a:r>
            <a:br/>
            <a:r>
              <a:t>3 Pages + Sidebar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645920"/>
            <a:ext cx="2560320" cy="18288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Block 2</a:t>
            </a:r>
            <a:br/>
            <a:r>
              <a:t>Perception</a:t>
            </a:r>
            <a:br/>
            <a:br/>
            <a:r>
              <a:t>Grounding DINO</a:t>
            </a:r>
            <a:br/>
            <a:r>
              <a:t>SAM2 + BLIP-2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560320" cy="18288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Block 3</a:t>
            </a:r>
            <a:br/>
            <a:r>
              <a:t>Knowledge &amp; Chat</a:t>
            </a:r>
            <a:br/>
            <a:br/>
            <a:r>
              <a:t>ChromaDB + RAG</a:t>
            </a:r>
            <a:br/>
            <a:r>
              <a:t>GPT-4o-mini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560320" cy="182880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Block 4</a:t>
            </a:r>
            <a:br/>
            <a:r>
              <a:t>MLOps &amp; Deploy</a:t>
            </a:r>
            <a:br/>
            <a:br/>
            <a:r>
              <a:t>MLflow + Docker</a:t>
            </a:r>
            <a:br/>
            <a:r>
              <a:t>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D2FF"/>
                </a:solidFill>
                <a:latin typeface="Calibri"/>
              </a:defRPr>
            </a:pPr>
            <a: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1. User uploads image/video via Streamlit UI (Block 1)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2. FastAPI routes request to Perception Pipeline (Block 2)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3. Grounding DINO detects objects -&gt; SAM2 segments -&gt; BLIP-2 captions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4. Scene graph + annotated image returned to frontend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5. User asks question -&gt; RAG retrieves from PDF manuals -&gt; GPT-4o-mini answers (Block 3)</a:t>
            </a:r>
          </a:p>
          <a:p>
            <a:pPr>
              <a:spcAft>
                <a:spcPts val="800"/>
              </a:spcAft>
              <a:defRPr sz="1600">
                <a:solidFill>
                  <a:srgbClr val="CCCCCC"/>
                </a:solidFill>
                <a:latin typeface="Calibri"/>
              </a:defRPr>
            </a:pPr>
            <a:r>
              <a:t>6. MLflow logs every inference run automatically (Block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Vision Models — How They 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3474720" cy="2743200"/>
          </a:xfrm>
          <a:prstGeom prst="round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Grounding DINO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Open-vocabulary detector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Input: image + text labels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Cross-attention: matches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words to image regions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bounding boxes +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labels + confidence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Why: detects ANY object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you describe in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463040"/>
            <a:ext cx="3474720" cy="27432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SAM2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Segment Anything Model 2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Input: image + box prompts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ViT encodes full image once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Decoder predicts per-pixel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mask for each box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binary masks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Why: pixel-precise object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boundaries, not just boxes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474720" cy="27432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5544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BLIP-2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0116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Vision-Language Model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Input: image (or crop)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ViT + Q-Former bridge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vision to language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OPT-2.7B generates text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Output: natural language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captions per object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Why: describes scenes and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  objects in plain English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All 3 models are transformer-based — they use attention to learn which parts of the input matter most. DINO matches text tokens to image patches, SAM2 predicts masks from positional prompts, BLIP-2 bridges frozen vision and language models via a lightweight Q-Former.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RAG Chatbot — Knowledge-Grounded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How it works: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1. PDF manuals ingested at startup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PyPDFLoader -&gt; text chunks -&gt; OpenAI Embeddings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-&gt; stored in ChromaDB vector database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2. User asks a question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Question embedded -&gt; similarity search in ChromaDB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-&gt; top-3 relevant manual chunks retrieved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3. LangChain builds prompt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Scene context (detected objects + spatial layout)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+ Retrieved manual chunks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+ User question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-&gt; GPT-4o-mini generates grounded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Knowledge Base: 10 PDF manuals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OSHA Hand &amp; Power Tools Safety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OSHA Woodworking Safety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OSHA Construction Safety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OSHA Electrical Safety (x2)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OSHA Machine Guarding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Soldering Safety Guide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SparkFun Multimeter Guide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Adafruit Multimeters Guide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NIOSH Hand Tools Ergonomics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Why RAG instead of just GPT?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LLM doesn't hallucinate safety info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Answers cite real OSHA/NIOSH sources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New manuals added by uploading PDFs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Frontend — 4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51760" cy="3200400"/>
          </a:xfrm>
          <a:prstGeom prst="round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Home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System status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Feature cards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Quick start guide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Backend health + VRAM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651760" cy="32004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Image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Upload image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5 workspace presets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Detection + Segmentation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4 result tabs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Ask about objects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651760" cy="32004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Video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Upload video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Frame-by-frame detection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Bounding boxes per frame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Object frequency timeline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463040"/>
            <a:ext cx="2651760" cy="320040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Calibri"/>
              </a:defRPr>
            </a:pPr>
            <a:r>
              <a:t>Chatbot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1031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Scene-aware Q&amp;A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Object focus selector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RAG with source citations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Multi-turn conversation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Session State shares data between pages: scene_text, last_analysis, selected_object, chat_history. Analyse an image -&gt; scene auto-loads in chatbot. Click 'Ask about hammer' -&gt; jumps to chatbot focused on that object.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5 Workspace Presets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463040"/>
            <a:ext cx="2148840" cy="3200400"/>
          </a:xfrm>
          <a:prstGeom prst="roundRect">
            <a:avLst/>
          </a:prstGeom>
          <a:solidFill>
            <a:srgbClr val="1E4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General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920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27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8600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person, chair, desk, monitor,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laptop, keyboard, phone, lamp,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notepad, headphones, camera...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39" y="1463040"/>
            <a:ext cx="2148840" cy="3200400"/>
          </a:xfrm>
          <a:prstGeom prst="round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79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DIY / Workshop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79" y="1920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41 labels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228600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hammer, pliers, wrench, saw,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drill, angle grinder, jigsaw,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nail gun, 3D printer, vise...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59" y="1463040"/>
            <a:ext cx="2148840" cy="3200400"/>
          </a:xfrm>
          <a:prstGeom prst="roundRect">
            <a:avLst/>
          </a:prstGeom>
          <a:solidFill>
            <a:srgbClr val="9240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199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Construction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1920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36 labels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228600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hard hat, safety vest, crane,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scaffold, rebar, cement mixer,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welding helmet, solar panel...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79" y="1463040"/>
            <a:ext cx="2148840" cy="3200400"/>
          </a:xfrm>
          <a:prstGeom prst="round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19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Electronics Lab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19" y="1920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38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228600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circuit board, soldering iron,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multimeter, resistor, capacitor,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diode, transistor, relay...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463040"/>
            <a:ext cx="2148840" cy="3200400"/>
          </a:xfrm>
          <a:prstGeom prst="roundRect">
            <a:avLst/>
          </a:prstGeom>
          <a:solidFill>
            <a:srgbClr val="4A4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55448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Calibri"/>
              </a:defRPr>
            </a:pPr>
            <a:r>
              <a:t>Office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192024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Calibri"/>
              </a:defRPr>
            </a:pPr>
            <a:r>
              <a:t>31 labels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286000"/>
            <a:ext cx="1965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chair, desk, monitor, printer,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whiteboard, projector, plant,</a:t>
            </a:r>
          </a:p>
          <a:p>
            <a:pPr>
              <a:spcAft>
                <a:spcPts val="80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filing cabinet, sticky note...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029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Why presets matter: Grounding DINO only detects objects you name. More specific labels = better detection. Users can edit labels freely or select 'Custom' to start blank. Presets cover all dataset images.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MLOps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MLflow Experiment Tracking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Every inference auto-logged: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Model versions used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Settings (threshold, device, dtype)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Inference timing per stage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Detection results + object counts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Hardware info (GPU, VRAM)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experiment.py for manual comparisons: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Numbered folders (EXP_001, EXP_002...)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- Annotated images + JSON results saved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Docker Deployment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docker compose up --build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-&gt; Backend: PyTorch + CUDA + all models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-&gt; Frontend: Streamlit (lightweight)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Features: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 GPU passthrough (NVIDIA Container Toolkit)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 Persistent model cache (8GB, survives rebuilds)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 Persistent ChromaDB + MLflow volumes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 One-command start, no conda/pip needed</a:t>
            </a:r>
          </a:p>
          <a:p>
            <a:pPr>
              <a:spcAft>
                <a:spcPts val="800"/>
              </a:spcAft>
              <a:defRPr sz="1600">
                <a:solidFill>
                  <a:srgbClr val="10B981"/>
                </a:solidFill>
                <a:latin typeface="Calibri"/>
              </a:defRPr>
            </a:pPr>
            <a:r>
              <a:t>   - Frontend at :8501, Backend at :8000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Network Setup: Both services run on desktop (GTX 1080 Ti). Laptop connects via browser at http://192.168.0.126:8501. No installation needed on laptop — just a browser.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Showcase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34 Images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General workspace (2)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DIY / Workshop (12)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Construction site (3)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Electronics lab (3)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Office (3)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Mixed/unsplash (11)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Sources: Pexels, Unsplash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(all free license)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17 Videos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DIY / Workshop (5)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Construction (3)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Electronics (3)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General / Office (4)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Factory / Industrial (2)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Format: SD 640x360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Duration: 5-15s each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Source: Pexels (free)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10 PDF Manuals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OSHA Hand &amp; Power Tools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OSHA Woodworking Safety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OSHA Construction Safety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OSHA Electrical Safety (x2)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OSHA Machine Guarding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Soldering Safety Guide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SparkFun Multimeter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Adafruit Multimeters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NIOSH Hand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2FF"/>
                </a:solidFill>
                <a:latin typeface="Calibri"/>
              </a:defRPr>
            </a:pPr>
            <a:r>
              <a:t>Download all: python download_dataset.py    |    Images only: --images    |    Videos only: --videos    |    PDFs only: --manuals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Streamlit 1.37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httpx, Pillow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Plotly, Pandas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463040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Backend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FastAPI 0.115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Uvicorn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Pydantic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Grounding DINO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(IDEA-Research)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HuggingFace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463040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  <a:latin typeface="Calibri"/>
              </a:defRPr>
            </a:pPr>
            <a:r>
              <a:t>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SAM2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(Meta/Facebook)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PyTorch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Calibri"/>
              </a:defRPr>
            </a:pPr>
            <a:r>
              <a:t>Captioning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976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BLIP-2 OPT-2.7B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(Salesforce)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HuggingFace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749039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2976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LangChain 0.2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ChromaDB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OpenAI Embeddings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C4899"/>
                </a:solidFill>
                <a:latin typeface="Calibri"/>
              </a:defRPr>
            </a:pPr>
            <a:r>
              <a:t>Chat LLM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2976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GPT-4o-mini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OpenAI API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LangChain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3749039"/>
            <a:ext cx="2651760" cy="1828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3840479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MLOps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4297679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MLflow 2.13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Docker Compose</a:t>
            </a:r>
          </a:p>
          <a:p>
            <a:pPr>
              <a:spcAft>
                <a:spcPts val="80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NVIDIA Container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Hardware: NVIDIA GTX 1080 Ti (11GB VRAM)  |  32GB System RAM  |  Python 3.10  |  CUDA 12.1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D2FF"/>
                </a:solidFill>
                <a:latin typeface="Calibri"/>
              </a:defRPr>
            </a:pPr>
            <a:r>
              <a:t>Challenges &amp; Future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Challenges Solved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SAM2 mask shape bug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masks[0,0] returned 1D array instead of 2D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Fix: np.squeeze(masks).astype(bool)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Grounding DINO coordinate system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Returns pixel coords when target_sizes passed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Never multiply by image dimensions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ChromaDB duplicate ID on PDF ingestion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Repeated headers/footers = same MD5 hash</a:t>
            </a:r>
          </a:p>
          <a:p>
            <a:pPr>
              <a:spcAft>
                <a:spcPts val="8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 Fix: deduplicate within batch + across 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Future Improvements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SAM2 video tracking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Use temporal propagation instead of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per-frame independent detection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Real-time webcam feed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Process live camera input for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continuous workspace monitoring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Fine-tuned detection model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Train on workspace-specific data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for better tool recognition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Mobile/tablet UI</a:t>
            </a:r>
          </a:p>
          <a:p>
            <a:pPr>
              <a:spcAft>
                <a:spcPts val="800"/>
              </a:spcAft>
              <a:defRPr sz="1600">
                <a:solidFill>
                  <a:srgbClr val="F59E0B"/>
                </a:solidFill>
                <a:latin typeface="Calibri"/>
              </a:defRPr>
            </a:pPr>
            <a:r>
              <a:t>   Responsive design for on-site use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2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Calibri"/>
              </a:defRPr>
            </a:pPr>
            <a:r>
              <a:t>Upload an image -&gt; Detect -&gt; Segment -&gt; Caption -&gt;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CCCCCC"/>
                </a:solidFill>
                <a:latin typeface="Calibri"/>
              </a:defRPr>
            </a:pPr>
            <a:r>
              <a:t>Start: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Terminal 1:  uvicorn backend.main:app --host 0.0.0.0 --port 8000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Calibri"/>
              </a:defRPr>
            </a:pPr>
            <a:r>
              <a:t>Terminal 2:  streamlit run frontend/app.py --server.address 0.0.0.0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C3AED"/>
                </a:solidFill>
                <a:latin typeface="Calibri"/>
              </a:defRPr>
            </a:pPr>
            <a:r>
              <a:t>Or:  docker compose up --build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